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5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011680"/>
            <a:ext cx="103327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>
                <a:solidFill>
                  <a:srgbClr val="D4002A"/>
                </a:solidFill>
                <a:latin typeface="PingFang SC"/>
              </a:rPr>
              <a:t>workloom-ai-acquisition · 能力导览</a:t>
            </a:r>
          </a:p>
          <a:p>
            <a:pPr algn="ctr"/>
            <a:r>
              <a:rPr sz="2000" b="0">
                <a:solidFill>
                  <a:srgbClr val="4A2B33"/>
                </a:solidFill>
                <a:latin typeface="PingFang SC"/>
              </a:rPr>
              <a:t>WorkLoom 获客系统 · 短视频社媒营销 × GEO × 获客五环 × 行业运营（首垂直：酒店）</a:t>
            </a:r>
          </a:p>
          <a:p>
            <a:pPr algn="ctr"/>
            <a:r>
              <a:rPr sz="1400" b="0">
                <a:solidFill>
                  <a:srgbClr val="8A4B5A"/>
                </a:solidFill>
                <a:latin typeface="PingFang SC"/>
              </a:rPr>
              <a:t>自动生成 · 2026-08-26 · 与代码同步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5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D4002A"/>
                </a:solidFill>
                <a:latin typeface="PingFang SC"/>
              </a:rPr>
              <a:t>🚀 5 分钟体验路径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4A2B33"/>
                </a:solidFill>
                <a:latin typeface="PingFang SC"/>
              </a:rPr>
              <a:t>pnpm install &amp;&amp; pnpm preview:all —— 无需真实后端/密钥，Mock 数据已固化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560320"/>
            <a:ext cx="103327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D4002A"/>
                </a:solidFill>
                <a:latin typeface="PingFang SC"/>
              </a:rPr>
              <a:t>🖥 PC · B 端工作台</a:t>
            </a:r>
          </a:p>
          <a:p>
            <a:pPr algn="l"/>
            <a:r>
              <a:rPr sz="1600" b="0">
                <a:solidFill>
                  <a:srgbClr val="8A4B5A"/>
                </a:solidFill>
                <a:latin typeface="PingFang SC"/>
              </a:rPr>
              <a:t>http://localhost:3000    经营主页 / 晨报 / 待审批 / 一句话目标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749039"/>
            <a:ext cx="103327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D4002A"/>
                </a:solidFill>
                <a:latin typeface="PingFang SC"/>
              </a:rPr>
              <a:t>📱 B 端移动</a:t>
            </a:r>
          </a:p>
          <a:p>
            <a:pPr algn="l"/>
            <a:r>
              <a:rPr sz="1600" b="0">
                <a:solidFill>
                  <a:srgbClr val="8A4B5A"/>
                </a:solidFill>
                <a:latin typeface="PingFang SC"/>
              </a:rPr>
              <a:t>http://localhost:3001    高保真演示页 + 手机壳容器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937760"/>
            <a:ext cx="103327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D4002A"/>
                </a:solidFill>
                <a:latin typeface="PingFang SC"/>
              </a:rPr>
              <a:t>📱 C 端 AI 服务前台</a:t>
            </a:r>
          </a:p>
          <a:p>
            <a:pPr algn="l"/>
            <a:r>
              <a:rPr sz="1600" b="0">
                <a:solidFill>
                  <a:srgbClr val="8A4B5A"/>
                </a:solidFill>
                <a:latin typeface="PingFang SC"/>
              </a:rPr>
              <a:t>http://localhost:3002    免登对话 / 服务 / 工单 / 消息 / 我的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5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D4002A"/>
                </a:solidFill>
                <a:latin typeface="PingFang SC"/>
              </a:rPr>
              <a:t>🖥 三端应用（开箱即看）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63040"/>
            <a:ext cx="106070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4A2B33"/>
                </a:solidFill>
                <a:latin typeface="PingFang SC"/>
              </a:rPr>
              <a:t>• PC 端 · B 端工作台</a:t>
            </a:r>
          </a:p>
          <a:p>
            <a:pPr algn="l"/>
            <a:r>
              <a:rPr sz="1300" b="0">
                <a:solidFill>
                  <a:srgbClr val="8A4B5A"/>
                </a:solidFill>
                <a:latin typeface="PingFang SC"/>
              </a:rPr>
              <a:t>   经营主页/任务中心/规则中心/装配中心，全模拟运行态 — `pnpm preview:all` → http://localhost:3000</a:t>
            </a:r>
          </a:p>
          <a:p>
            <a:pPr algn="l"/>
            <a:r>
              <a:rPr sz="1700" b="1">
                <a:solidFill>
                  <a:srgbClr val="4A2B33"/>
                </a:solidFill>
                <a:latin typeface="PingFang SC"/>
              </a:rPr>
              <a:t>• 移动端 · B 端高保真</a:t>
            </a:r>
          </a:p>
          <a:p>
            <a:pPr algn="l"/>
            <a:r>
              <a:rPr sz="1300" b="0">
                <a:solidFill>
                  <a:srgbClr val="8A4B5A"/>
                </a:solidFill>
                <a:latin typeface="PingFang SC"/>
              </a:rPr>
              <a:t>   12 页高保真演示页 + 手机壳容器 — `pnpm preview:all` → http://localhost:3001</a:t>
            </a:r>
          </a:p>
          <a:p>
            <a:pPr algn="l"/>
            <a:r>
              <a:rPr sz="1700" b="1">
                <a:solidFill>
                  <a:srgbClr val="4A2B33"/>
                </a:solidFill>
                <a:latin typeface="PingFang SC"/>
              </a:rPr>
              <a:t>• 移动端 · C 端 AI 服务前台</a:t>
            </a:r>
          </a:p>
          <a:p>
            <a:pPr algn="l"/>
            <a:r>
              <a:rPr sz="1300" b="0">
                <a:solidFill>
                  <a:srgbClr val="8A4B5A"/>
                </a:solidFill>
                <a:latin typeface="PingFang SC"/>
              </a:rPr>
              <a:t>   小程序入口 H5 模拟：对话/服务/工单/消息/我的，演示直登 — `pnpm preview:all` → http://localhost:3002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5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D4002A"/>
                </a:solidFill>
                <a:latin typeface="PingFang SC"/>
              </a:rPr>
              <a:t>🏨 行业 Bundle（垂直能力包）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63040"/>
            <a:ext cx="106070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4A2B33"/>
                </a:solidFill>
                <a:latin typeface="PingFang SC"/>
              </a:rPr>
              <a:t>• bundles/ai-video/</a:t>
            </a:r>
          </a:p>
          <a:p>
            <a:pPr algn="l"/>
            <a:r>
              <a:rPr sz="1300" b="0">
                <a:solidFill>
                  <a:srgbClr val="8A4B5A"/>
                </a:solidFill>
                <a:latin typeface="PingFang SC"/>
              </a:rPr>
              <a:t>   围栏/技能/员工/对象/管线一键装配 — 见 bundles/ai-video/ 目录</a:t>
            </a:r>
          </a:p>
          <a:p>
            <a:pPr algn="l"/>
            <a:r>
              <a:rPr sz="1700" b="1">
                <a:solidFill>
                  <a:srgbClr val="4A2B33"/>
                </a:solidFill>
                <a:latin typeface="PingFang SC"/>
              </a:rPr>
              <a:t>• bundles/geo-growth/</a:t>
            </a:r>
          </a:p>
          <a:p>
            <a:pPr algn="l"/>
            <a:r>
              <a:rPr sz="1300" b="0">
                <a:solidFill>
                  <a:srgbClr val="8A4B5A"/>
                </a:solidFill>
                <a:latin typeface="PingFang SC"/>
              </a:rPr>
              <a:t>   围栏/技能/员工/对象/管线一键装配 — 见 bundles/geo-growth/ 目录</a:t>
            </a:r>
          </a:p>
          <a:p>
            <a:pPr algn="l"/>
            <a:r>
              <a:rPr sz="1700" b="1">
                <a:solidFill>
                  <a:srgbClr val="4A2B33"/>
                </a:solidFill>
                <a:latin typeface="PingFang SC"/>
              </a:rPr>
              <a:t>• bundles/hotel/</a:t>
            </a:r>
          </a:p>
          <a:p>
            <a:pPr algn="l"/>
            <a:r>
              <a:rPr sz="1300" b="0">
                <a:solidFill>
                  <a:srgbClr val="8A4B5A"/>
                </a:solidFill>
                <a:latin typeface="PingFang SC"/>
              </a:rPr>
              <a:t>   围栏/技能/员工/对象/管线一键装配 — 见 bundles/hotel/ 目录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5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D4002A"/>
                </a:solidFill>
                <a:latin typeface="PingFang SC"/>
              </a:rPr>
              <a:t>🤖 AI 自动化引擎（系统内置能力）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63040"/>
            <a:ext cx="106070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4A2B33"/>
                </a:solidFill>
                <a:latin typeface="PingFang SC"/>
              </a:rPr>
              <a:t>• 围栏 DSL 引擎</a:t>
            </a:r>
          </a:p>
          <a:p>
            <a:pPr algn="l"/>
            <a:r>
              <a:rPr sz="1300" b="0">
                <a:solidFill>
                  <a:srgbClr val="8A4B5A"/>
                </a:solidFill>
                <a:latin typeface="PingFang SC"/>
              </a:rPr>
              <a:t>   事前裁决：支持 in/contains_any 列表语义 — 见 docs/capability-map.md L3</a:t>
            </a:r>
          </a:p>
          <a:p>
            <a:pPr algn="l"/>
            <a:r>
              <a:rPr sz="1700" b="1">
                <a:solidFill>
                  <a:srgbClr val="4A2B33"/>
                </a:solidFill>
                <a:latin typeface="PingFang SC"/>
              </a:rPr>
              <a:t>• L2 编排（ASK/QUEST）</a:t>
            </a:r>
          </a:p>
          <a:p>
            <a:pPr algn="l"/>
            <a:r>
              <a:rPr sz="1300" b="0">
                <a:solidFill>
                  <a:srgbClr val="8A4B5A"/>
                </a:solidFill>
                <a:latin typeface="PingFang SC"/>
              </a:rPr>
              <a:t>   一句话目标自动拆解多步骤并派发 — 见 docs/capability-map.md L3</a:t>
            </a:r>
          </a:p>
          <a:p>
            <a:pPr algn="l"/>
            <a:r>
              <a:rPr sz="1700" b="1">
                <a:solidFill>
                  <a:srgbClr val="4A2B33"/>
                </a:solidFill>
                <a:latin typeface="PingFang SC"/>
              </a:rPr>
              <a:t>• 夜班自动运行</a:t>
            </a:r>
          </a:p>
          <a:p>
            <a:pPr algn="l"/>
            <a:r>
              <a:rPr sz="1300" b="0">
                <a:solidFill>
                  <a:srgbClr val="8A4B5A"/>
                </a:solidFill>
                <a:latin typeface="PingFang SC"/>
              </a:rPr>
              <a:t>   离线任务推进，次日晨报 — 见 docs/capability-map.md L3</a:t>
            </a:r>
          </a:p>
          <a:p>
            <a:pPr algn="l"/>
            <a:r>
              <a:rPr sz="1700" b="1">
                <a:solidFill>
                  <a:srgbClr val="4A2B33"/>
                </a:solidFill>
                <a:latin typeface="PingFang SC"/>
              </a:rPr>
              <a:t>• 模型路由</a:t>
            </a:r>
          </a:p>
          <a:p>
            <a:pPr algn="l"/>
            <a:r>
              <a:rPr sz="1300" b="0">
                <a:solidFill>
                  <a:srgbClr val="8A4B5A"/>
                </a:solidFill>
                <a:latin typeface="PingFang SC"/>
              </a:rPr>
              <a:t>   离线确定性模型，无密钥可跑 — 见 docs/capability-map.md L3</a:t>
            </a:r>
          </a:p>
          <a:p>
            <a:pPr algn="l"/>
            <a:r>
              <a:rPr sz="1700" b="1">
                <a:solidFill>
                  <a:srgbClr val="4A2B33"/>
                </a:solidFill>
                <a:latin typeface="PingFang SC"/>
              </a:rPr>
              <a:t>• 全平台 RPA 发布</a:t>
            </a:r>
          </a:p>
          <a:p>
            <a:pPr algn="l"/>
            <a:r>
              <a:rPr sz="1300" b="0">
                <a:solidFill>
                  <a:srgbClr val="8A4B5A"/>
                </a:solidFill>
                <a:latin typeface="PingFang SC"/>
              </a:rPr>
              <a:t>   抖音/小红书/B站/YouTube，BrowserDriver 注入接真浏览器 — 见 docs/capability-map.md L3</a:t>
            </a:r>
          </a:p>
          <a:p>
            <a:pPr algn="l"/>
            <a:r>
              <a:rPr sz="1700" b="1">
                <a:solidFill>
                  <a:srgbClr val="4A2B33"/>
                </a:solidFill>
                <a:latin typeface="PingFang SC"/>
              </a:rPr>
              <a:t>• 五元事件 + RLS 隔离</a:t>
            </a:r>
          </a:p>
          <a:p>
            <a:pPr algn="l"/>
            <a:r>
              <a:rPr sz="1300" b="0">
                <a:solidFill>
                  <a:srgbClr val="8A4B5A"/>
                </a:solidFill>
                <a:latin typeface="PingFang SC"/>
              </a:rPr>
              <a:t>   全链路可追溯、可验链 — 见 docs/capability-map.md L3</a:t>
            </a:r>
          </a:p>
          <a:p>
            <a:pPr algn="l"/>
            <a:r>
              <a:rPr sz="1700" b="1">
                <a:solidFill>
                  <a:srgbClr val="4A2B33"/>
                </a:solidFill>
                <a:latin typeface="PingFang SC"/>
              </a:rPr>
              <a:t>• IM 渠道</a:t>
            </a:r>
          </a:p>
          <a:p>
            <a:pPr algn="l"/>
            <a:r>
              <a:rPr sz="1300" b="0">
                <a:solidFill>
                  <a:srgbClr val="8A4B5A"/>
                </a:solidFill>
                <a:latin typeface="PingFang SC"/>
              </a:rPr>
              <a:t>   企微等出入站，审批卡片直达手机 — 见 docs/capability-map.md L3</a:t>
            </a:r>
          </a:p>
          <a:p>
            <a:pPr algn="l"/>
            <a:r>
              <a:rPr sz="1700" b="1">
                <a:solidFill>
                  <a:srgbClr val="4A2B33"/>
                </a:solidFill>
                <a:latin typeface="PingFang SC"/>
              </a:rPr>
              <a:t>• C 端 AI 服务前台</a:t>
            </a:r>
          </a:p>
          <a:p>
            <a:pPr algn="l"/>
            <a:r>
              <a:rPr sz="1300" b="0">
                <a:solidFill>
                  <a:srgbClr val="8A4B5A"/>
                </a:solidFill>
                <a:latin typeface="PingFang SC"/>
              </a:rPr>
              <a:t>   对话/知识库 385 问/工单/SLA — 见 docs/capability-map.md L3</a:t>
            </a:r>
          </a:p>
          <a:p>
            <a:pPr algn="l"/>
            <a:r>
              <a:rPr sz="1700" b="1">
                <a:solidFill>
                  <a:srgbClr val="4A2B33"/>
                </a:solidFill>
                <a:latin typeface="PingFang SC"/>
              </a:rPr>
              <a:t>• 自动巡检</a:t>
            </a:r>
          </a:p>
          <a:p>
            <a:pPr algn="l"/>
            <a:r>
              <a:rPr sz="1300" b="0">
                <a:solidFill>
                  <a:srgbClr val="8A4B5A"/>
                </a:solidFill>
                <a:latin typeface="PingFang SC"/>
              </a:rPr>
              <a:t>   异常发现→派发→处置闭环 — 见 docs/capability-map.md L3</a:t>
            </a:r>
          </a:p>
          <a:p>
            <a:pPr algn="l"/>
            <a:r>
              <a:rPr sz="1700" b="1">
                <a:solidFill>
                  <a:srgbClr val="4A2B33"/>
                </a:solidFill>
                <a:latin typeface="PingFang SC"/>
              </a:rPr>
              <a:t>• 人审台</a:t>
            </a:r>
          </a:p>
          <a:p>
            <a:pPr algn="l"/>
            <a:r>
              <a:rPr sz="1300" b="0">
                <a:solidFill>
                  <a:srgbClr val="8A4B5A"/>
                </a:solidFill>
                <a:latin typeface="PingFang SC"/>
              </a:rPr>
              <a:t>   必审事项人拍板，AI 不越权 — 见 docs/capability-map.md L3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5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D4002A"/>
                </a:solidFill>
                <a:latin typeface="PingFang SC"/>
              </a:rPr>
              <a:t>✅ 验证与质量（工程纪律）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63040"/>
            <a:ext cx="106070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4A2B33"/>
                </a:solidFill>
                <a:latin typeface="PingFang SC"/>
              </a:rPr>
              <a:t>• 主测试套件</a:t>
            </a:r>
          </a:p>
          <a:p>
            <a:pPr algn="l"/>
            <a:r>
              <a:rPr sz="1300" b="0">
                <a:solidFill>
                  <a:srgbClr val="8A4B5A"/>
                </a:solidFill>
                <a:latin typeface="PingFang SC"/>
              </a:rPr>
              <a:t>   数百条场景用例逐条执行 — `pnpm suite`</a:t>
            </a:r>
          </a:p>
          <a:p>
            <a:pPr algn="l"/>
            <a:r>
              <a:rPr sz="1700" b="1">
                <a:solidFill>
                  <a:srgbClr val="4A2B33"/>
                </a:solidFill>
                <a:latin typeface="PingFang SC"/>
              </a:rPr>
              <a:t>• GEO 域套件</a:t>
            </a:r>
          </a:p>
          <a:p>
            <a:pPr algn="l"/>
            <a:r>
              <a:rPr sz="1300" b="0">
                <a:solidFill>
                  <a:srgbClr val="8A4B5A"/>
                </a:solidFill>
                <a:latin typeface="PingFang SC"/>
              </a:rPr>
              <a:t>   GEO 双域专项 — `pnpm suite:geo`</a:t>
            </a:r>
          </a:p>
          <a:p>
            <a:pPr algn="l"/>
            <a:r>
              <a:rPr sz="1700" b="1">
                <a:solidFill>
                  <a:srgbClr val="4A2B33"/>
                </a:solidFill>
                <a:latin typeface="PingFang SC"/>
              </a:rPr>
              <a:t>• 酒店域套件</a:t>
            </a:r>
          </a:p>
          <a:p>
            <a:pPr algn="l"/>
            <a:r>
              <a:rPr sz="1300" b="0">
                <a:solidFill>
                  <a:srgbClr val="8A4B5A"/>
                </a:solidFill>
                <a:latin typeface="PingFang SC"/>
              </a:rPr>
              <a:t>   酒店域专项 — `pnpm suite:hotel`</a:t>
            </a:r>
          </a:p>
          <a:p>
            <a:pPr algn="l"/>
            <a:r>
              <a:rPr sz="1700" b="1">
                <a:solidFill>
                  <a:srgbClr val="4A2B33"/>
                </a:solidFill>
                <a:latin typeface="PingFang SC"/>
              </a:rPr>
              <a:t>• 发布门禁</a:t>
            </a:r>
          </a:p>
          <a:p>
            <a:pPr algn="l"/>
            <a:r>
              <a:rPr sz="1300" b="0">
                <a:solidFill>
                  <a:srgbClr val="8A4B5A"/>
                </a:solidFill>
                <a:latin typeface="PingFang SC"/>
              </a:rPr>
              <a:t>   未全过禁止发布（硬性） — `pnpm release:gate`</a:t>
            </a:r>
          </a:p>
          <a:p>
            <a:pPr algn="l"/>
            <a:r>
              <a:rPr sz="1700" b="1">
                <a:solidFill>
                  <a:srgbClr val="4A2B33"/>
                </a:solidFill>
                <a:latin typeface="PingFang SC"/>
              </a:rPr>
              <a:t>• 五元事件验链</a:t>
            </a:r>
          </a:p>
          <a:p>
            <a:pPr algn="l"/>
            <a:r>
              <a:rPr sz="1300" b="0">
                <a:solidFill>
                  <a:srgbClr val="8A4B5A"/>
                </a:solidFill>
                <a:latin typeface="PingFang SC"/>
              </a:rPr>
              <a:t>   事件链完整性校验 — `pnpm db:verify-chain`</a:t>
            </a:r>
          </a:p>
          <a:p>
            <a:pPr algn="l"/>
            <a:r>
              <a:rPr sz="1700" b="1">
                <a:solidFill>
                  <a:srgbClr val="4A2B33"/>
                </a:solidFill>
                <a:latin typeface="PingFang SC"/>
              </a:rPr>
              <a:t>• Agent 能力巡游</a:t>
            </a:r>
          </a:p>
          <a:p>
            <a:pPr algn="l"/>
            <a:r>
              <a:rPr sz="1300" b="0">
                <a:solidFill>
                  <a:srgbClr val="8A4B5A"/>
                </a:solidFill>
                <a:latin typeface="PingFang SC"/>
              </a:rPr>
              <a:t>   AI Agent 一键自检全部能力 — `pnpm agent:tour`</a:t>
            </a:r>
          </a:p>
          <a:p>
            <a:pPr algn="l"/>
            <a:r>
              <a:rPr sz="1700" b="1">
                <a:solidFill>
                  <a:srgbClr val="4A2B33"/>
                </a:solidFill>
                <a:latin typeface="PingFang SC"/>
              </a:rPr>
              <a:t>• 环境自检</a:t>
            </a:r>
          </a:p>
          <a:p>
            <a:pPr algn="l"/>
            <a:r>
              <a:rPr sz="1300" b="0">
                <a:solidFill>
                  <a:srgbClr val="8A4B5A"/>
                </a:solidFill>
                <a:latin typeface="PingFang SC"/>
              </a:rPr>
              <a:t>   一屏排查环境问题 — `pnpm doctor`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5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D4002A"/>
                </a:solidFill>
                <a:latin typeface="PingFang SC"/>
              </a:rPr>
              <a:t>🎁 演示与交付资产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63040"/>
            <a:ext cx="106070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4A2B33"/>
                </a:solidFill>
                <a:latin typeface="PingFang SC"/>
              </a:rPr>
              <a:t>• 高保真演示页 ×12</a:t>
            </a:r>
          </a:p>
          <a:p>
            <a:pPr algn="l"/>
            <a:r>
              <a:rPr sz="1300" b="0">
                <a:solidFill>
                  <a:srgbClr val="8A4B5A"/>
                </a:solidFill>
                <a:latin typeface="PingFang SC"/>
              </a:rPr>
              <a:t>   糖果色，含手机壳容器 — http://localhost:3001</a:t>
            </a:r>
          </a:p>
          <a:p>
            <a:pPr algn="l"/>
            <a:r>
              <a:rPr sz="1700" b="1">
                <a:solidFill>
                  <a:srgbClr val="4A2B33"/>
                </a:solidFill>
                <a:latin typeface="PingFang SC"/>
              </a:rPr>
              <a:t>• 官网静态站</a:t>
            </a:r>
          </a:p>
          <a:p>
            <a:pPr algn="l"/>
            <a:r>
              <a:rPr sz="1300" b="0">
                <a:solidFill>
                  <a:srgbClr val="8A4B5A"/>
                </a:solidFill>
                <a:latin typeface="PingFang SC"/>
              </a:rPr>
              <a:t>   对外产品故事 — apps/site/index.html</a:t>
            </a:r>
          </a:p>
          <a:p>
            <a:pPr algn="l"/>
            <a:r>
              <a:rPr sz="1700" b="1">
                <a:solidFill>
                  <a:srgbClr val="4A2B33"/>
                </a:solidFill>
                <a:latin typeface="PingFang SC"/>
              </a:rPr>
              <a:t>• 自带技能 ×7</a:t>
            </a:r>
          </a:p>
          <a:p>
            <a:pPr algn="l"/>
            <a:r>
              <a:rPr sz="1300" b="0">
                <a:solidFill>
                  <a:srgbClr val="8A4B5A"/>
                </a:solidFill>
                <a:latin typeface="PingFang SC"/>
              </a:rPr>
              <a:t>   cross-platform-review / deal-flow / demo-mirror / industry-entry 等 — skills/official/</a:t>
            </a:r>
          </a:p>
          <a:p>
            <a:pPr algn="l"/>
            <a:r>
              <a:rPr sz="1700" b="1">
                <a:solidFill>
                  <a:srgbClr val="4A2B33"/>
                </a:solidFill>
                <a:latin typeface="PingFang SC"/>
              </a:rPr>
              <a:t>• 能力导览 PPT</a:t>
            </a:r>
          </a:p>
          <a:p>
            <a:pPr algn="l"/>
            <a:r>
              <a:rPr sz="1300" b="0">
                <a:solidFill>
                  <a:srgbClr val="8A4B5A"/>
                </a:solidFill>
                <a:latin typeface="PingFang SC"/>
              </a:rPr>
              <a:t>   路演/汇报直接用 — docs/capability-tour.pptx</a:t>
            </a:r>
          </a:p>
          <a:p>
            <a:pPr algn="l"/>
            <a:r>
              <a:rPr sz="1700" b="1">
                <a:solidFill>
                  <a:srgbClr val="4A2B33"/>
                </a:solidFill>
                <a:latin typeface="PingFang SC"/>
              </a:rPr>
              <a:t>• Mock 数据体系</a:t>
            </a:r>
          </a:p>
          <a:p>
            <a:pPr algn="l"/>
            <a:r>
              <a:rPr sz="1300" b="0">
                <a:solidFill>
                  <a:srgbClr val="8A4B5A"/>
                </a:solidFill>
                <a:latin typeface="PingFang SC"/>
              </a:rPr>
              <a:t>   种子 + 离线模型 + 演示直登，开箱即用 — mock/README.md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5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377440"/>
            <a:ext cx="1033272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D4002A"/>
                </a:solidFill>
                <a:latin typeface="PingFang SC"/>
              </a:rPr>
              <a:t>下一步</a:t>
            </a:r>
          </a:p>
          <a:p>
            <a:pPr algn="ctr"/>
            <a:r>
              <a:rPr sz="1800" b="0">
                <a:solidFill>
                  <a:srgbClr val="4A2B33"/>
                </a:solidFill>
                <a:latin typeface="PingFang SC"/>
              </a:rPr>
              <a:t>二次开发读 AGENTS.md → pnpm agent:tour → docs/capability-map.md</a:t>
            </a:r>
          </a:p>
          <a:p>
            <a:pPr algn="ctr"/>
            <a:r>
              <a:rPr sz="1600" b="0">
                <a:solidFill>
                  <a:srgbClr val="8A4B5A"/>
                </a:solidFill>
                <a:latin typeface="PingFang SC"/>
              </a:rPr>
              <a:t>发布前 pnpm release:gate 全过（硬性门禁）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